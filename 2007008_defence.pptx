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Quattrocento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hYShk2zPYN39XuNOe42DJrLcsd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964D30-A12B-4184-BF39-7A9C103D8FEF}">
  <a:tblStyle styleId="{29964D30-A12B-4184-BF39-7A9C103D8FEF}" styleName="Table_0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regular.fntdata"/><Relationship Id="rId20" Type="http://schemas.openxmlformats.org/officeDocument/2006/relationships/slide" Target="slides/slide14.xml"/><Relationship Id="rId42" Type="http://schemas.openxmlformats.org/officeDocument/2006/relationships/font" Target="fonts/QuattrocentoSans-italic.fntdata"/><Relationship Id="rId41" Type="http://schemas.openxmlformats.org/officeDocument/2006/relationships/font" Target="fonts/QuattrocentoSans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Quattrocento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4491e87af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4491e87af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4491e87af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4491e87af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4491e87af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4491e87af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491e87af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4491e87af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4491e87af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4491e87af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4491e87af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4491e87af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481ea173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481ea173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481ea173c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491e87af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4491e87af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4491e87af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4491e87af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4491e87af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4491e87af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4491e87af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4491e87af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4491e87af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4491e87af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4491e87af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4491e87af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4491e87af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4491e87af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4491e87af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4491e87af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4491e87af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4491e87af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4491e87af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4491e87af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4491e87af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4491e87af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4491e87af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4491e87af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4491e87af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4491e87af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4491e87af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4491e87af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4491e87af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4491e87af_0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4491e87af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4491e87af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4491e87af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4491e87af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4491e87af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4491e87af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4491e87af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4491e87af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4491e87af_0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4491e87af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4491e87af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4491e87af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4491e87af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4491e87af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4491e87af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4491e87af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4491e87af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4491e87af_0_1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4491e87af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4491e87af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4491e87af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/>
          <p:nvPr>
            <p:ph idx="1" type="body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0" type="dt"/>
          </p:nvPr>
        </p:nvSpPr>
        <p:spPr>
          <a:xfrm>
            <a:off x="105387" y="6374393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1" type="ftr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algn="r">
              <a:spcBef>
                <a:spcPts val="0"/>
              </a:spcBef>
              <a:buNone/>
              <a:defRPr sz="1600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31"/>
          <p:cNvCxnSpPr/>
          <p:nvPr/>
        </p:nvCxnSpPr>
        <p:spPr>
          <a:xfrm>
            <a:off x="533400" y="1104900"/>
            <a:ext cx="11119104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31"/>
          <p:cNvSpPr txBox="1"/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Quattrocento Sans"/>
              <a:buNone/>
              <a:defRPr b="0" sz="6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Graphical user interface&#10;&#10;Description automatically generated" id="29" name="Google Shape;2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3792" y="138819"/>
            <a:ext cx="2369315" cy="86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/>
          <p:nvPr>
            <p:ph idx="1" type="body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2" name="Google Shape;32;p33"/>
          <p:cNvCxnSpPr/>
          <p:nvPr/>
        </p:nvCxnSpPr>
        <p:spPr>
          <a:xfrm>
            <a:off x="533400" y="1104900"/>
            <a:ext cx="11119104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" name="Google Shape;33;p33"/>
          <p:cNvSpPr txBox="1"/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" type="body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2" type="body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" type="body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5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3" type="body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5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6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/>
          <p:nvPr>
            <p:ph idx="2" type="pic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/>
          <p:nvPr>
            <p:ph idx="1" type="body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>
            <p:ph type="title"/>
          </p:nvPr>
        </p:nvSpPr>
        <p:spPr>
          <a:xfrm>
            <a:off x="838200" y="2659042"/>
            <a:ext cx="10515600" cy="1662600"/>
          </a:xfrm>
          <a:prstGeom prst="horizontalScroll">
            <a:avLst>
              <a:gd fmla="val 12500" name="adj"/>
            </a:avLst>
          </a:prstGeom>
          <a:solidFill>
            <a:srgbClr val="F4DDEC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60">
                <a:latin typeface="Calibri"/>
                <a:ea typeface="Calibri"/>
                <a:cs typeface="Calibri"/>
                <a:sym typeface="Calibri"/>
              </a:rPr>
              <a:t>FragPTQ: Fragility-Guided Post-Training Quantization for Vision Transformers 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838200" y="4300639"/>
            <a:ext cx="4314113" cy="2386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Sk. Imran Hossain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 of CSE, KUET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039689" y="3989294"/>
            <a:ext cx="4314113" cy="2868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Md. Robiul Islam Ryad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Roll: 2007008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Md. Umar Faruk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Roll: 2007016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196425" y="624244"/>
            <a:ext cx="84255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KHULNA UNIVERSITY OF ENGINEERING &amp; TECHNOLOGY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4091" y="1713827"/>
            <a:ext cx="843818" cy="94523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38200" y="4605646"/>
            <a:ext cx="171662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by-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811512" y="101024"/>
            <a:ext cx="84255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4000 : </a:t>
            </a:r>
            <a:r>
              <a:rPr b="1" i="0" lang="en-US" sz="28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Project/Thesis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080452" y="1066649"/>
            <a:ext cx="84255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/>
          </a:p>
        </p:txBody>
      </p:sp>
      <p:sp>
        <p:nvSpPr>
          <p:cNvPr id="92" name="Google Shape;92;p1"/>
          <p:cNvSpPr txBox="1"/>
          <p:nvPr>
            <p:ph idx="10" type="dt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12/15/2025</a:t>
            </a:r>
            <a:endParaRPr/>
          </a:p>
        </p:txBody>
      </p:sp>
      <p:sp>
        <p:nvSpPr>
          <p:cNvPr id="93" name="Google Shape;93;p1"/>
          <p:cNvSpPr txBox="1"/>
          <p:nvPr>
            <p:ph idx="12" type="sldNum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idx="1" type="body"/>
          </p:nvPr>
        </p:nvSpPr>
        <p:spPr>
          <a:xfrm>
            <a:off x="513899" y="1288433"/>
            <a:ext cx="11302800" cy="4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597" lvl="0" marL="22859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597" lvl="0" marL="22859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097" lvl="0" marL="228597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597" lvl="0" marL="22859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  <a:p>
            <a:pPr indent="-228597" lvl="0" marL="22859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  <a:p>
            <a:pPr indent="-228598" lvl="0" marL="228598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Setup </a:t>
            </a:r>
            <a:endParaRPr/>
          </a:p>
          <a:p>
            <a:pPr indent="-228597" lvl="0" marL="22859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&amp; Discussion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597" lvl="0" marL="22859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598" lvl="0" marL="228598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598" lvl="0" marL="228598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11560629" y="6383630"/>
            <a:ext cx="52598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513900" y="352575"/>
            <a:ext cx="10942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lang="en-US" sz="3600"/>
              <a:t>Outline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"/>
          <p:cNvSpPr txBox="1"/>
          <p:nvPr>
            <p:ph type="title"/>
          </p:nvPr>
        </p:nvSpPr>
        <p:spPr>
          <a:xfrm>
            <a:off x="508975" y="345109"/>
            <a:ext cx="91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lang="en-US" sz="3600"/>
              <a:t>Introduction</a:t>
            </a:r>
            <a:endParaRPr b="1"/>
          </a:p>
        </p:txBody>
      </p:sp>
      <p:sp>
        <p:nvSpPr>
          <p:cNvPr id="107" name="Google Shape;107;p3"/>
          <p:cNvSpPr txBox="1"/>
          <p:nvPr/>
        </p:nvSpPr>
        <p:spPr>
          <a:xfrm>
            <a:off x="620550" y="1331375"/>
            <a:ext cx="109509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is ViT?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Vision Transformers process images as a sequence of patches using self-attention to learn global context.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ViT Works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Patch Embedding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Positional Encoding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Transformer Encoder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 Head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419175" y="291434"/>
            <a:ext cx="91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lang="en-US" sz="3600"/>
              <a:t>Vision Transformers (ViTs)</a:t>
            </a:r>
            <a:endParaRPr b="1"/>
          </a:p>
        </p:txBody>
      </p:sp>
      <p:sp>
        <p:nvSpPr>
          <p:cNvPr id="114" name="Google Shape;114;p4"/>
          <p:cNvSpPr txBox="1"/>
          <p:nvPr/>
        </p:nvSpPr>
        <p:spPr>
          <a:xfrm>
            <a:off x="217272" y="1250160"/>
            <a:ext cx="48804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divided into fixed-size patches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Linear embedding + positional encoding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Transformer encoder blocks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Self-attention enables global context modeling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Achieve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state-of-the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image classification performance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5967400" y="6366075"/>
            <a:ext cx="51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1: </a:t>
            </a: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of Vision Transformer [4]</a:t>
            </a:r>
            <a:endParaRPr sz="1600"/>
          </a:p>
        </p:txBody>
      </p:sp>
      <p:pic>
        <p:nvPicPr>
          <p:cNvPr id="116" name="Google Shape;11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175" y="1184700"/>
            <a:ext cx="6883299" cy="51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7"/>
          <p:cNvSpPr txBox="1"/>
          <p:nvPr>
            <p:ph type="title"/>
          </p:nvPr>
        </p:nvSpPr>
        <p:spPr>
          <a:xfrm>
            <a:off x="469800" y="329384"/>
            <a:ext cx="91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b="1" lang="en-US" sz="3600"/>
              <a:t>Computational Challenges of ViT</a:t>
            </a:r>
            <a:endParaRPr b="1" sz="3600"/>
          </a:p>
        </p:txBody>
      </p:sp>
      <p:sp>
        <p:nvSpPr>
          <p:cNvPr id="123" name="Google Shape;123;p7"/>
          <p:cNvSpPr txBox="1"/>
          <p:nvPr/>
        </p:nvSpPr>
        <p:spPr>
          <a:xfrm>
            <a:off x="573741" y="1229209"/>
            <a:ext cx="87048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Quadratic complexity of self-attention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Large parameter count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memory footprint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inference latency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power consumption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Challenging deployment on edge devices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4491e87af_0_211"/>
          <p:cNvSpPr txBox="1"/>
          <p:nvPr>
            <p:ph idx="1" type="body"/>
          </p:nvPr>
        </p:nvSpPr>
        <p:spPr>
          <a:xfrm>
            <a:off x="520425" y="1203075"/>
            <a:ext cx="11312700" cy="493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Quantization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Converts high-precision values to low-precision formats with minimal accuracy loss.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Key Points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Goal: Faster, smaller, energy-efficient models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Mechanism: Quantizes weights &amp; activations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Benefits:</a:t>
            </a:r>
            <a:r>
              <a:rPr b="1" lang="en-US" sz="2400"/>
              <a:t> </a:t>
            </a:r>
            <a:r>
              <a:rPr lang="en-US" sz="2400"/>
              <a:t>Lower memory, faster inference, edge deployment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Techniques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PTQ: Quantize after training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QAT: Quantize during training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4491e87af_0_211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g3f4491e87af_0_211"/>
          <p:cNvSpPr txBox="1"/>
          <p:nvPr>
            <p:ph type="title"/>
          </p:nvPr>
        </p:nvSpPr>
        <p:spPr>
          <a:xfrm>
            <a:off x="444500" y="31673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What is Quantization?</a:t>
            </a:r>
            <a:endParaRPr b="1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8"/>
          <p:cNvSpPr txBox="1"/>
          <p:nvPr>
            <p:ph type="title"/>
          </p:nvPr>
        </p:nvSpPr>
        <p:spPr>
          <a:xfrm>
            <a:off x="469800" y="354675"/>
            <a:ext cx="1069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b="1" lang="en-US" sz="3600"/>
              <a:t>Literature Review </a:t>
            </a:r>
            <a:endParaRPr b="1" sz="3200"/>
          </a:p>
        </p:txBody>
      </p:sp>
      <p:graphicFrame>
        <p:nvGraphicFramePr>
          <p:cNvPr id="138" name="Google Shape;138;p8"/>
          <p:cNvGraphicFramePr/>
          <p:nvPr/>
        </p:nvGraphicFramePr>
        <p:xfrm>
          <a:off x="469600" y="2202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{29964D30-A12B-4184-BF39-7A9C103D8FEF}</a:tableStyleId>
              </a:tblPr>
              <a:tblGrid>
                <a:gridCol w="2813200"/>
                <a:gridCol w="2813200"/>
                <a:gridCol w="2813200"/>
                <a:gridCol w="2813200"/>
              </a:tblGrid>
              <a:tr h="81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Method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Core Idea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Main Strength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Key </a:t>
                      </a:r>
                      <a:r>
                        <a:rPr lang="en-US" sz="2000"/>
                        <a:t>Limitation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8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AdaLog (ECCV’24)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Adaptive log PTQ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Better low-bit PTQ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Uniform precision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81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Mix-QViT (CVPR’25)</a:t>
                      </a:r>
                      <a:endParaRPr sz="2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LRP + sensitivity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Explainable MPQ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Expensive Search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81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LRP-QViT (DSP'25)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LRP-based MPQ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Layer-aware bits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Ignores quantization sensitivity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81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LAMPQ (AAAI'26)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Fisher-based MPQ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Layer-wise MPQ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Iterative optimization overhead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" name="Google Shape;139;p8"/>
          <p:cNvSpPr txBox="1"/>
          <p:nvPr/>
        </p:nvSpPr>
        <p:spPr>
          <a:xfrm>
            <a:off x="469599" y="1383375"/>
            <a:ext cx="8201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1: </a:t>
            </a:r>
            <a:r>
              <a:rPr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Literature Review- Key Methods, Contributions &amp; Gaps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491e87af_0_5"/>
          <p:cNvSpPr txBox="1"/>
          <p:nvPr>
            <p:ph idx="1" type="body"/>
          </p:nvPr>
        </p:nvSpPr>
        <p:spPr>
          <a:xfrm>
            <a:off x="444500" y="1176375"/>
            <a:ext cx="11316900" cy="550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❖"/>
            </a:pPr>
            <a:r>
              <a:rPr b="1" lang="en-US" sz="2400"/>
              <a:t>AdaLog</a:t>
            </a:r>
            <a:r>
              <a:rPr lang="en-US" sz="2400"/>
              <a:t> addresses the power-law distribution of Post-Softmax and Post-GELU activations.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Post-Softmax Quantization: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Quantization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Dequantization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HW-Friendly Approximation </a:t>
            </a:r>
            <a:endParaRPr b="1" sz="2400"/>
          </a:p>
        </p:txBody>
      </p:sp>
      <p:sp>
        <p:nvSpPr>
          <p:cNvPr id="146" name="Google Shape;146;g3f4491e87af_0_5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g3f4491e87af_0_5"/>
          <p:cNvSpPr txBox="1"/>
          <p:nvPr>
            <p:ph type="title"/>
          </p:nvPr>
        </p:nvSpPr>
        <p:spPr>
          <a:xfrm>
            <a:off x="444500" y="26610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Adaptive </a:t>
            </a:r>
            <a:r>
              <a:rPr b="1" lang="en-US" sz="3600"/>
              <a:t>Logarithmic</a:t>
            </a:r>
            <a:r>
              <a:rPr b="1" lang="en-US" sz="3600"/>
              <a:t> Quantizer (Adalog)</a:t>
            </a:r>
            <a:endParaRPr b="1" sz="3600"/>
          </a:p>
        </p:txBody>
      </p:sp>
      <p:pic>
        <p:nvPicPr>
          <p:cNvPr id="148" name="Google Shape;148;g3f4491e87af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013" y="5632925"/>
            <a:ext cx="2517973" cy="96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f4491e87af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338" y="2975213"/>
            <a:ext cx="71151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f4491e87af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9350" y="4280250"/>
            <a:ext cx="5715000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4491e87af_0_12"/>
          <p:cNvSpPr txBox="1"/>
          <p:nvPr>
            <p:ph idx="1" type="body"/>
          </p:nvPr>
        </p:nvSpPr>
        <p:spPr>
          <a:xfrm>
            <a:off x="366300" y="1247475"/>
            <a:ext cx="11459400" cy="52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Shift GELU Activations: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Adalog reformulates the linear layer as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Quantization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Dequantization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Bias Reparameterization</a:t>
            </a:r>
            <a:endParaRPr b="1" sz="2400"/>
          </a:p>
        </p:txBody>
      </p:sp>
      <p:sp>
        <p:nvSpPr>
          <p:cNvPr id="157" name="Google Shape;157;g3f4491e87af_0_12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3f4491e87af_0_12"/>
          <p:cNvSpPr txBox="1"/>
          <p:nvPr>
            <p:ph type="title"/>
          </p:nvPr>
        </p:nvSpPr>
        <p:spPr>
          <a:xfrm>
            <a:off x="469800" y="34203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Adalog (contd..)</a:t>
            </a:r>
            <a:endParaRPr b="1" sz="3600"/>
          </a:p>
        </p:txBody>
      </p:sp>
      <p:pic>
        <p:nvPicPr>
          <p:cNvPr id="159" name="Google Shape;159;g3f4491e87af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125" y="1944125"/>
            <a:ext cx="5851075" cy="12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f4491e87af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500" y="3330225"/>
            <a:ext cx="68119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f4491e87af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5650" y="4285075"/>
            <a:ext cx="68636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f4491e87af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1488" y="5672063"/>
            <a:ext cx="50196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4491e87af_0_30"/>
          <p:cNvSpPr txBox="1"/>
          <p:nvPr>
            <p:ph idx="1" type="body"/>
          </p:nvPr>
        </p:nvSpPr>
        <p:spPr>
          <a:xfrm>
            <a:off x="576900" y="1252800"/>
            <a:ext cx="11038200" cy="560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/>
              <a:t>FPCS </a:t>
            </a:r>
            <a:r>
              <a:rPr b="1" lang="en-US" sz="2800"/>
              <a:t>:</a:t>
            </a:r>
            <a:r>
              <a:rPr lang="en-US" sz="2400"/>
              <a:t> Find the optimal logarithm base and quantization parameters.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Step1: </a:t>
            </a:r>
            <a:r>
              <a:rPr b="1" lang="en-US" sz="2400"/>
              <a:t>Coarse Search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Search the entire parameter space.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Select the best candidate regions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Step2: Prograssive Search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Search only within the selected regions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 smaller intervals for better accuracy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Step3: Fine Search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Refine the best candidate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Select the optimal parameters</a:t>
            </a:r>
            <a:endParaRPr sz="2400"/>
          </a:p>
        </p:txBody>
      </p:sp>
      <p:sp>
        <p:nvSpPr>
          <p:cNvPr id="169" name="Google Shape;169;g3f4491e87af_0_30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g3f4491e87af_0_30"/>
          <p:cNvSpPr txBox="1"/>
          <p:nvPr>
            <p:ph type="title"/>
          </p:nvPr>
        </p:nvSpPr>
        <p:spPr>
          <a:xfrm>
            <a:off x="526275" y="37998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Adalog (contd..)</a:t>
            </a:r>
            <a:endParaRPr b="1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481ea173c_0_30"/>
          <p:cNvSpPr txBox="1"/>
          <p:nvPr>
            <p:ph idx="1" type="body"/>
          </p:nvPr>
        </p:nvSpPr>
        <p:spPr>
          <a:xfrm>
            <a:off x="496500" y="1239150"/>
            <a:ext cx="11199000" cy="437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Uniform bit-width across all transformer layers.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Not all transformer blocks are equally sensitive.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Uniform precision ignores layer-wise quantization sensitivity.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Suboptimal bit allocation and avoidable accuracy loss.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 adaptive, sensitivity-aware mixed-precision strategy is needed.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77" name="Google Shape;177;g3f481ea173c_0_30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g3f481ea173c_0_30"/>
          <p:cNvSpPr txBox="1"/>
          <p:nvPr>
            <p:ph type="title"/>
          </p:nvPr>
        </p:nvSpPr>
        <p:spPr>
          <a:xfrm>
            <a:off x="444500" y="27875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Problem Statement</a:t>
            </a:r>
            <a:endParaRPr b="1"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11"/>
          <p:cNvSpPr txBox="1"/>
          <p:nvPr>
            <p:ph type="title"/>
          </p:nvPr>
        </p:nvSpPr>
        <p:spPr>
          <a:xfrm>
            <a:off x="83550" y="9"/>
            <a:ext cx="91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lang="en-US" sz="3600"/>
              <a:t>Proposed Method (FragPTQ)</a:t>
            </a:r>
            <a:endParaRPr b="1"/>
          </a:p>
        </p:txBody>
      </p:sp>
      <p:sp>
        <p:nvSpPr>
          <p:cNvPr id="185" name="Google Shape;185;p11"/>
          <p:cNvSpPr txBox="1"/>
          <p:nvPr/>
        </p:nvSpPr>
        <p:spPr>
          <a:xfrm>
            <a:off x="2940826" y="6366075"/>
            <a:ext cx="450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2: </a:t>
            </a: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Architecture</a:t>
            </a: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sz="1600"/>
          </a:p>
        </p:txBody>
      </p:sp>
      <p:pic>
        <p:nvPicPr>
          <p:cNvPr id="186" name="Google Shape;18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50" y="737600"/>
            <a:ext cx="11850900" cy="564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4491e87af_0_37"/>
          <p:cNvSpPr txBox="1"/>
          <p:nvPr>
            <p:ph idx="1" type="body"/>
          </p:nvPr>
        </p:nvSpPr>
        <p:spPr>
          <a:xfrm>
            <a:off x="444500" y="1185575"/>
            <a:ext cx="11249400" cy="556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❖"/>
            </a:pPr>
            <a:r>
              <a:rPr lang="en-US" sz="2400"/>
              <a:t>Measure each layer’s quantization sensitivity.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Fragility Metric: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Interpretation: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High Fragility -&gt; Higher Bit-width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Low Fragility -&gt; Lower Bit-width</a:t>
            </a:r>
            <a:endParaRPr sz="2400"/>
          </a:p>
        </p:txBody>
      </p:sp>
      <p:sp>
        <p:nvSpPr>
          <p:cNvPr id="193" name="Google Shape;193;g3f4491e87af_0_37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g3f4491e87af_0_37"/>
          <p:cNvSpPr txBox="1"/>
          <p:nvPr>
            <p:ph type="title"/>
          </p:nvPr>
        </p:nvSpPr>
        <p:spPr>
          <a:xfrm>
            <a:off x="444500" y="24360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Fragility Measurement</a:t>
            </a:r>
            <a:endParaRPr b="1" sz="3600"/>
          </a:p>
        </p:txBody>
      </p:sp>
      <p:pic>
        <p:nvPicPr>
          <p:cNvPr id="195" name="Google Shape;195;g3f4491e87af_0_37"/>
          <p:cNvPicPr preferRelativeResize="0"/>
          <p:nvPr/>
        </p:nvPicPr>
        <p:blipFill rotWithShape="1">
          <a:blip r:embed="rId3">
            <a:alphaModFix/>
          </a:blip>
          <a:srcRect b="-100000" l="33820" r="-33820" t="100000"/>
          <a:stretch/>
        </p:blipFill>
        <p:spPr>
          <a:xfrm>
            <a:off x="4043363" y="3062288"/>
            <a:ext cx="410527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f4491e87af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9938" y="2233613"/>
            <a:ext cx="778192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4491e87af_0_44"/>
          <p:cNvSpPr txBox="1"/>
          <p:nvPr>
            <p:ph idx="1" type="body"/>
          </p:nvPr>
        </p:nvSpPr>
        <p:spPr>
          <a:xfrm>
            <a:off x="528150" y="1159375"/>
            <a:ext cx="11135700" cy="542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Cost Evaluation: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Pc: Number of parameters in component c 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b: Candidate bit-width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Value Evaluation: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where,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03" name="Google Shape;203;g3f4491e87af_0_44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g3f4491e87af_0_44"/>
          <p:cNvSpPr txBox="1"/>
          <p:nvPr>
            <p:ph type="title"/>
          </p:nvPr>
        </p:nvSpPr>
        <p:spPr>
          <a:xfrm>
            <a:off x="444500" y="27878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Mixed-Precision Bit Allocation(MCKP)</a:t>
            </a:r>
            <a:endParaRPr b="1" sz="3600"/>
          </a:p>
        </p:txBody>
      </p:sp>
      <p:pic>
        <p:nvPicPr>
          <p:cNvPr id="205" name="Google Shape;205;g3f4491e87af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975" y="1564775"/>
            <a:ext cx="3735250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f4491e87af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8975" y="4192832"/>
            <a:ext cx="4907150" cy="53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f4491e87af_0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050" y="5256125"/>
            <a:ext cx="5067075" cy="8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4491e87af_0_53"/>
          <p:cNvSpPr txBox="1"/>
          <p:nvPr>
            <p:ph idx="1" type="body"/>
          </p:nvPr>
        </p:nvSpPr>
        <p:spPr>
          <a:xfrm>
            <a:off x="571925" y="1181875"/>
            <a:ext cx="11326200" cy="481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34"/>
              <a:t>DP State:</a:t>
            </a:r>
            <a:endParaRPr b="1" sz="2434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	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62"/>
              <a:t>where,</a:t>
            </a:r>
            <a:endParaRPr sz="2362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62"/>
              <a:t>i :</a:t>
            </a:r>
            <a:r>
              <a:rPr lang="en-US" sz="2362"/>
              <a:t> First i quantizable components processed</a:t>
            </a:r>
            <a:endParaRPr sz="2362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62"/>
              <a:t>w :</a:t>
            </a:r>
            <a:r>
              <a:rPr lang="en-US" sz="2362"/>
              <a:t> Memory Budget used</a:t>
            </a:r>
            <a:endParaRPr sz="2362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29"/>
              <a:t>DP Transition:</a:t>
            </a:r>
            <a:r>
              <a:rPr b="1" lang="en-US" sz="2329"/>
              <a:t> </a:t>
            </a:r>
            <a:endParaRPr b="1" sz="2329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4491e87af_0_53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g3f4491e87af_0_53"/>
          <p:cNvSpPr txBox="1"/>
          <p:nvPr>
            <p:ph type="title"/>
          </p:nvPr>
        </p:nvSpPr>
        <p:spPr>
          <a:xfrm>
            <a:off x="571925" y="330575"/>
            <a:ext cx="101367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/>
              <a:t>Mixed-Precision Bit Allocation(MCKP) (contd..)</a:t>
            </a:r>
            <a:endParaRPr b="1" sz="3600"/>
          </a:p>
        </p:txBody>
      </p:sp>
      <p:sp>
        <p:nvSpPr>
          <p:cNvPr id="216" name="Google Shape;216;g3f4491e87af_0_53"/>
          <p:cNvSpPr txBox="1"/>
          <p:nvPr/>
        </p:nvSpPr>
        <p:spPr>
          <a:xfrm>
            <a:off x="2634900" y="1460175"/>
            <a:ext cx="19359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DP[i][w]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g3f4491e87af_0_53"/>
          <p:cNvSpPr txBox="1"/>
          <p:nvPr/>
        </p:nvSpPr>
        <p:spPr>
          <a:xfrm>
            <a:off x="2634900" y="4332450"/>
            <a:ext cx="941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DP[i][w] = max(DP[i-1][w-cost(i,b)] + value(i,b), DP[i][w])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4491e87af_0_60"/>
          <p:cNvSpPr txBox="1"/>
          <p:nvPr>
            <p:ph idx="1" type="body"/>
          </p:nvPr>
        </p:nvSpPr>
        <p:spPr>
          <a:xfrm>
            <a:off x="444500" y="1232425"/>
            <a:ext cx="11034300" cy="515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Select Top-K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Choose the K most fragile component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Build Background</a:t>
            </a:r>
            <a:r>
              <a:rPr lang="en-US" sz="2400"/>
              <a:t> 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Quantize all other components using the 1st-pass allocation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Recompute Fragility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Re-evaluate the Top-K components in the quantized background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Re-run MCKP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Update the refine scores and compute the final bit allocation</a:t>
            </a:r>
            <a:endParaRPr sz="2400"/>
          </a:p>
        </p:txBody>
      </p:sp>
      <p:sp>
        <p:nvSpPr>
          <p:cNvPr id="224" name="Google Shape;224;g3f4491e87af_0_60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g3f4491e87af_0_60"/>
          <p:cNvSpPr txBox="1"/>
          <p:nvPr>
            <p:ph type="title"/>
          </p:nvPr>
        </p:nvSpPr>
        <p:spPr>
          <a:xfrm>
            <a:off x="444500" y="30565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Second-Pass Refinement</a:t>
            </a:r>
            <a:endParaRPr b="1"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4491e87af_0_75"/>
          <p:cNvSpPr txBox="1"/>
          <p:nvPr>
            <p:ph idx="1" type="body"/>
          </p:nvPr>
        </p:nvSpPr>
        <p:spPr>
          <a:xfrm>
            <a:off x="508676" y="1159350"/>
            <a:ext cx="10225500" cy="515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/>
              <a:t>Old Refinement:</a:t>
            </a:r>
            <a:endParaRPr b="1"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/>
              <a:t>Issue</a:t>
            </a:r>
            <a:endParaRPr b="1" sz="26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Background KL dominates the measurement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component’s true contribution is hidden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/>
              <a:t>Result</a:t>
            </a:r>
            <a:endParaRPr sz="26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Noisy fragility scores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Incorrect bit allocation</a:t>
            </a:r>
            <a:endParaRPr sz="2400"/>
          </a:p>
        </p:txBody>
      </p:sp>
      <p:sp>
        <p:nvSpPr>
          <p:cNvPr id="232" name="Google Shape;232;g3f4491e87af_0_75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g3f4491e87af_0_75"/>
          <p:cNvSpPr txBox="1"/>
          <p:nvPr>
            <p:ph type="title"/>
          </p:nvPr>
        </p:nvSpPr>
        <p:spPr>
          <a:xfrm>
            <a:off x="559313" y="33533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Old Second-Pass Formulation</a:t>
            </a:r>
            <a:endParaRPr b="1" sz="3600"/>
          </a:p>
        </p:txBody>
      </p:sp>
      <p:pic>
        <p:nvPicPr>
          <p:cNvPr id="234" name="Google Shape;234;g3f4491e87af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950" y="1637325"/>
            <a:ext cx="4833151" cy="53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4491e87af_0_82"/>
          <p:cNvSpPr txBox="1"/>
          <p:nvPr>
            <p:ph idx="1" type="body"/>
          </p:nvPr>
        </p:nvSpPr>
        <p:spPr>
          <a:xfrm>
            <a:off x="583575" y="1143850"/>
            <a:ext cx="11186400" cy="550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Marginal</a:t>
            </a:r>
            <a:r>
              <a:rPr b="1" lang="en-US" sz="2400"/>
              <a:t> Formulation: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Key Idea: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Remove shared background error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Measure only the </a:t>
            </a:r>
            <a:r>
              <a:rPr lang="en-US" sz="2400"/>
              <a:t>component’s</a:t>
            </a:r>
            <a:r>
              <a:rPr lang="en-US" sz="2400"/>
              <a:t> contribution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Clamp </a:t>
            </a:r>
            <a:r>
              <a:rPr lang="en-US" sz="2400"/>
              <a:t>residual</a:t>
            </a:r>
            <a:r>
              <a:rPr lang="en-US" sz="2400"/>
              <a:t> noise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Benefits: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Consistent Omega values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Reliable bit allocation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Fair component comparison</a:t>
            </a:r>
            <a:endParaRPr sz="2400"/>
          </a:p>
        </p:txBody>
      </p:sp>
      <p:sp>
        <p:nvSpPr>
          <p:cNvPr id="241" name="Google Shape;241;g3f4491e87af_0_82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g3f4491e87af_0_82"/>
          <p:cNvSpPr txBox="1"/>
          <p:nvPr>
            <p:ph type="title"/>
          </p:nvPr>
        </p:nvSpPr>
        <p:spPr>
          <a:xfrm>
            <a:off x="475950" y="36243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 </a:t>
            </a:r>
            <a:r>
              <a:rPr b="1" lang="en-US" sz="3600"/>
              <a:t>Marginal Refinement</a:t>
            </a:r>
            <a:endParaRPr b="1" sz="3600"/>
          </a:p>
        </p:txBody>
      </p:sp>
      <p:pic>
        <p:nvPicPr>
          <p:cNvPr id="243" name="Google Shape;243;g3f4491e87af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575" y="1687200"/>
            <a:ext cx="7574275" cy="7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4491e87af_0_89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g3f4491e87af_0_89"/>
          <p:cNvSpPr txBox="1"/>
          <p:nvPr>
            <p:ph type="title"/>
          </p:nvPr>
        </p:nvSpPr>
        <p:spPr>
          <a:xfrm>
            <a:off x="558375" y="38000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Refinement Ablation Study</a:t>
            </a:r>
            <a:endParaRPr b="1" sz="3600"/>
          </a:p>
        </p:txBody>
      </p:sp>
      <p:sp>
        <p:nvSpPr>
          <p:cNvPr id="251" name="Google Shape;251;g3f4491e87af_0_89"/>
          <p:cNvSpPr txBox="1"/>
          <p:nvPr/>
        </p:nvSpPr>
        <p:spPr>
          <a:xfrm>
            <a:off x="1066500" y="1295675"/>
            <a:ext cx="8338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2:</a:t>
            </a:r>
            <a:r>
              <a:rPr lang="en-US" sz="2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Refinement ablation at W3/W4</a:t>
            </a:r>
            <a:endParaRPr sz="2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52" name="Google Shape;252;g3f4491e87af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825" y="2077250"/>
            <a:ext cx="9868350" cy="42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4491e87af_0_99"/>
          <p:cNvSpPr txBox="1"/>
          <p:nvPr>
            <p:ph idx="1" type="body"/>
          </p:nvPr>
        </p:nvSpPr>
        <p:spPr>
          <a:xfrm>
            <a:off x="546225" y="1245400"/>
            <a:ext cx="11540400" cy="473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Floored-Zero Noise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small marginal KL values become 0, making component appear safe for lower bit-widths.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False Bit Equivalence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Monotonic clamping makes 2-bit and 3-bit appear equally effective.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Incorrect Budget Allocation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Noisy scores cause MCKP to over-allocate 2-bit components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/>
              <a:t>Ex</a:t>
            </a:r>
            <a:r>
              <a:rPr lang="en-US" sz="2400"/>
              <a:t>: Swin-S/W3: 11 -&gt; 29 components assigned to 2-bit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That’s why we prefer off Refine for extreme low bits</a:t>
            </a:r>
            <a:endParaRPr sz="2400"/>
          </a:p>
        </p:txBody>
      </p:sp>
      <p:sp>
        <p:nvSpPr>
          <p:cNvPr id="259" name="Google Shape;259;g3f4491e87af_0_99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g3f4491e87af_0_99"/>
          <p:cNvSpPr txBox="1"/>
          <p:nvPr>
            <p:ph type="title"/>
          </p:nvPr>
        </p:nvSpPr>
        <p:spPr>
          <a:xfrm>
            <a:off x="471025" y="34855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Root Cause Analysis Of Refinement Failure</a:t>
            </a:r>
            <a:endParaRPr b="1"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4491e87af_0_106"/>
          <p:cNvSpPr txBox="1"/>
          <p:nvPr>
            <p:ph idx="1" type="body"/>
          </p:nvPr>
        </p:nvSpPr>
        <p:spPr>
          <a:xfrm>
            <a:off x="444500" y="1183900"/>
            <a:ext cx="11451900" cy="543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Hardware &amp; Software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GPU: NVIDIA GeForce RTX 4070 (12 GB VRAM)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Framework: PyTorch, CUDA 12.x, AdaLog backend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Models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DeiT-Tiny / DeiT-Small / DeiT-Base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ViT-Small / ViT-Base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Swin-Small / Swin-Base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Dataset &amp; Calibration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Evaluation: ImageNet-1K Validation (50,000 images)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Calibration: 32 unlabeled images (Batch size = 32)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67" name="Google Shape;267;g3f4491e87af_0_106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g3f4491e87af_0_106"/>
          <p:cNvSpPr txBox="1"/>
          <p:nvPr>
            <p:ph type="title"/>
          </p:nvPr>
        </p:nvSpPr>
        <p:spPr>
          <a:xfrm>
            <a:off x="444500" y="390575"/>
            <a:ext cx="99189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E</a:t>
            </a:r>
            <a:r>
              <a:rPr b="1" lang="en-US" sz="3600"/>
              <a:t>xperimental Setup</a:t>
            </a:r>
            <a:endParaRPr b="1"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4491e87af_0_235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g3f4491e87af_0_235"/>
          <p:cNvSpPr txBox="1"/>
          <p:nvPr>
            <p:ph type="title"/>
          </p:nvPr>
        </p:nvSpPr>
        <p:spPr>
          <a:xfrm>
            <a:off x="444500" y="43060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Primary Accuracy Comparison</a:t>
            </a:r>
            <a:endParaRPr b="1" sz="3600"/>
          </a:p>
        </p:txBody>
      </p:sp>
      <p:sp>
        <p:nvSpPr>
          <p:cNvPr id="276" name="Google Shape;276;g3f4491e87af_0_235"/>
          <p:cNvSpPr txBox="1"/>
          <p:nvPr/>
        </p:nvSpPr>
        <p:spPr>
          <a:xfrm>
            <a:off x="835288" y="1297625"/>
            <a:ext cx="101799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4: 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FragPTQ vs. AdaLog on DeiT-Tiny (FP32 = 72.21/91.10)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77" name="Google Shape;277;g3f4491e87af_0_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300" y="2043450"/>
            <a:ext cx="10521423" cy="43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4491e87af_0_131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g3f4491e87af_0_131"/>
          <p:cNvSpPr txBox="1"/>
          <p:nvPr>
            <p:ph type="title"/>
          </p:nvPr>
        </p:nvSpPr>
        <p:spPr>
          <a:xfrm>
            <a:off x="433875" y="32368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Overall Performance Comparison (DeiT-T)</a:t>
            </a:r>
            <a:endParaRPr b="1" sz="3600"/>
          </a:p>
        </p:txBody>
      </p:sp>
      <p:sp>
        <p:nvSpPr>
          <p:cNvPr id="285" name="Google Shape;285;g3f4491e87af_0_131"/>
          <p:cNvSpPr txBox="1"/>
          <p:nvPr/>
        </p:nvSpPr>
        <p:spPr>
          <a:xfrm>
            <a:off x="2191525" y="6330225"/>
            <a:ext cx="7667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3: 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FragPTQ outperforms uniform AdaLog.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86" name="Google Shape;286;g3f4491e87af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275" y="1181800"/>
            <a:ext cx="11071500" cy="509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4491e87af_0_223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g3f4491e87af_0_223"/>
          <p:cNvSpPr txBox="1"/>
          <p:nvPr>
            <p:ph type="title"/>
          </p:nvPr>
        </p:nvSpPr>
        <p:spPr>
          <a:xfrm>
            <a:off x="571050" y="32938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Accuracy Retention Across Models</a:t>
            </a:r>
            <a:endParaRPr b="1" sz="3400"/>
          </a:p>
        </p:txBody>
      </p:sp>
      <p:sp>
        <p:nvSpPr>
          <p:cNvPr id="294" name="Google Shape;294;g3f4491e87af_0_223"/>
          <p:cNvSpPr txBox="1"/>
          <p:nvPr/>
        </p:nvSpPr>
        <p:spPr>
          <a:xfrm>
            <a:off x="1479575" y="6255525"/>
            <a:ext cx="9869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Fig. 4: </a:t>
            </a:r>
            <a:r>
              <a:rPr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 retention (%) at W3/A3, W4/A4 and W6/A6 budgets</a:t>
            </a:r>
            <a:r>
              <a:rPr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95" name="Google Shape;295;g3f4491e87af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25" y="1143937"/>
            <a:ext cx="11232349" cy="506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4491e87af_0_197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g3f4491e87af_0_197"/>
          <p:cNvSpPr txBox="1"/>
          <p:nvPr>
            <p:ph type="title"/>
          </p:nvPr>
        </p:nvSpPr>
        <p:spPr>
          <a:xfrm>
            <a:off x="507775" y="367334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Mixed-Precision Bit Distribution</a:t>
            </a:r>
            <a:endParaRPr b="1" sz="3600"/>
          </a:p>
        </p:txBody>
      </p:sp>
      <p:sp>
        <p:nvSpPr>
          <p:cNvPr id="303" name="Google Shape;303;g3f4491e87af_0_197"/>
          <p:cNvSpPr txBox="1"/>
          <p:nvPr/>
        </p:nvSpPr>
        <p:spPr>
          <a:xfrm>
            <a:off x="2664550" y="6121150"/>
            <a:ext cx="66381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5:</a:t>
            </a:r>
            <a:r>
              <a:rPr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Block </a:t>
            </a:r>
            <a:r>
              <a:rPr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</a:t>
            </a:r>
            <a:r>
              <a:rPr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-wise bit allocation at W4.</a:t>
            </a:r>
            <a:endParaRPr sz="2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4" name="Google Shape;304;g3f4491e87af_0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75" y="1159925"/>
            <a:ext cx="11123002" cy="496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4491e87af_0_138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g3f4491e87af_0_138"/>
          <p:cNvSpPr txBox="1"/>
          <p:nvPr>
            <p:ph type="title"/>
          </p:nvPr>
        </p:nvSpPr>
        <p:spPr>
          <a:xfrm>
            <a:off x="476450" y="36735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Memory Compression Results</a:t>
            </a:r>
            <a:endParaRPr b="1" sz="3600"/>
          </a:p>
        </p:txBody>
      </p:sp>
      <p:sp>
        <p:nvSpPr>
          <p:cNvPr id="312" name="Google Shape;312;g3f4491e87af_0_138"/>
          <p:cNvSpPr txBox="1"/>
          <p:nvPr/>
        </p:nvSpPr>
        <p:spPr>
          <a:xfrm>
            <a:off x="736775" y="1328425"/>
            <a:ext cx="8253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3:</a:t>
            </a: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Memory Reduction under Different Bit Budgets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3" name="Google Shape;313;g3f4491e87af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225" y="2140138"/>
            <a:ext cx="10691551" cy="40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4491e87af_0_113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g3f4491e87af_0_113"/>
          <p:cNvSpPr txBox="1"/>
          <p:nvPr>
            <p:ph type="title"/>
          </p:nvPr>
        </p:nvSpPr>
        <p:spPr>
          <a:xfrm>
            <a:off x="544650" y="333425"/>
            <a:ext cx="106548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FP32 vs. Proposed Quantized Model Inference</a:t>
            </a:r>
            <a:endParaRPr b="1" sz="3600"/>
          </a:p>
        </p:txBody>
      </p:sp>
      <p:sp>
        <p:nvSpPr>
          <p:cNvPr id="321" name="Google Shape;321;g3f4491e87af_0_113"/>
          <p:cNvSpPr txBox="1"/>
          <p:nvPr/>
        </p:nvSpPr>
        <p:spPr>
          <a:xfrm>
            <a:off x="1168925" y="6250575"/>
            <a:ext cx="10238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6: </a:t>
            </a:r>
            <a:r>
              <a:rPr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Gradio-based interface for FP32 and Proposed Quantized model evaluation.</a:t>
            </a:r>
            <a:endParaRPr sz="2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22" name="Google Shape;322;g3f4491e87af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50" y="1159925"/>
            <a:ext cx="11098777" cy="496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491e87af_0_151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g3f4491e87af_0_151"/>
          <p:cNvSpPr txBox="1"/>
          <p:nvPr>
            <p:ph type="title"/>
          </p:nvPr>
        </p:nvSpPr>
        <p:spPr>
          <a:xfrm>
            <a:off x="496000" y="306325"/>
            <a:ext cx="108699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Inference Result Comparison</a:t>
            </a:r>
            <a:endParaRPr b="1" sz="3600"/>
          </a:p>
        </p:txBody>
      </p:sp>
      <p:sp>
        <p:nvSpPr>
          <p:cNvPr id="330" name="Google Shape;330;g3f4491e87af_0_151"/>
          <p:cNvSpPr txBox="1"/>
          <p:nvPr/>
        </p:nvSpPr>
        <p:spPr>
          <a:xfrm>
            <a:off x="2229475" y="6291375"/>
            <a:ext cx="67188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7:</a:t>
            </a:r>
            <a:r>
              <a:rPr lang="en-US" sz="2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FP32 vs. Proposed model predictions.</a:t>
            </a:r>
            <a:endParaRPr sz="2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31" name="Google Shape;331;g3f4491e87af_0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00" y="1191175"/>
            <a:ext cx="11147424" cy="494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>
            <p:ph type="title"/>
          </p:nvPr>
        </p:nvSpPr>
        <p:spPr>
          <a:xfrm>
            <a:off x="510275" y="354709"/>
            <a:ext cx="91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lang="en-US" sz="3600"/>
              <a:t>Gantt Chart</a:t>
            </a:r>
            <a:endParaRPr b="1"/>
          </a:p>
        </p:txBody>
      </p:sp>
      <p:pic>
        <p:nvPicPr>
          <p:cNvPr id="338" name="Google Shape;33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00" y="1169150"/>
            <a:ext cx="11349850" cy="550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4491e87af_0_181"/>
          <p:cNvSpPr txBox="1"/>
          <p:nvPr>
            <p:ph idx="1" type="body"/>
          </p:nvPr>
        </p:nvSpPr>
        <p:spPr>
          <a:xfrm>
            <a:off x="439650" y="1256225"/>
            <a:ext cx="11312700" cy="408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Proposed FragPTQ, a fragility-guided mixed-precision PTQ framework.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Introduced KL-divergence for component-wise fragility estimation.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Optimized bit allocation using the MCKP algorithm.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Improved Top-1 accuracy over uniform AdaLog at the same memory budget.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Enabled efficient low-bit ViT deployment without retraining.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4491e87af_0_181"/>
          <p:cNvSpPr txBox="1"/>
          <p:nvPr>
            <p:ph idx="12" type="sldNum"/>
          </p:nvPr>
        </p:nvSpPr>
        <p:spPr>
          <a:xfrm>
            <a:off x="8810013" y="6383630"/>
            <a:ext cx="3276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g3f4491e87af_0_181"/>
          <p:cNvSpPr txBox="1"/>
          <p:nvPr>
            <p:ph type="title"/>
          </p:nvPr>
        </p:nvSpPr>
        <p:spPr>
          <a:xfrm>
            <a:off x="444500" y="367359"/>
            <a:ext cx="9147000" cy="64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Conclusion</a:t>
            </a:r>
            <a:endParaRPr b="1"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26"/>
          <p:cNvSpPr txBox="1"/>
          <p:nvPr>
            <p:ph type="title"/>
          </p:nvPr>
        </p:nvSpPr>
        <p:spPr>
          <a:xfrm>
            <a:off x="444500" y="379984"/>
            <a:ext cx="91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lang="en-US" sz="3600"/>
              <a:t>Future Work</a:t>
            </a:r>
            <a:endParaRPr b="1"/>
          </a:p>
        </p:txBody>
      </p:sp>
      <p:sp>
        <p:nvSpPr>
          <p:cNvPr id="353" name="Google Shape;353;p26"/>
          <p:cNvSpPr txBox="1"/>
          <p:nvPr/>
        </p:nvSpPr>
        <p:spPr>
          <a:xfrm>
            <a:off x="501325" y="1342125"/>
            <a:ext cx="8225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and adaptive compression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Deployment on diverse hardware (TPU, FPGA, IoT)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Extension to object detection and segmentation tasks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Broader models and tasks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●"/>
            </a:pPr>
            <a:r>
              <a:rPr lang="en-US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pipelines</a:t>
            </a: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27"/>
          <p:cNvSpPr txBox="1"/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lang="en-US" sz="3600"/>
              <a:t>References</a:t>
            </a:r>
            <a:endParaRPr b="1"/>
          </a:p>
        </p:txBody>
      </p:sp>
      <p:sp>
        <p:nvSpPr>
          <p:cNvPr id="360" name="Google Shape;360;p27"/>
          <p:cNvSpPr txBox="1"/>
          <p:nvPr/>
        </p:nvSpPr>
        <p:spPr>
          <a:xfrm>
            <a:off x="444499" y="1254800"/>
            <a:ext cx="115773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[1] Z. Wu, Y. Zhang, J. Wang, et al., "AdaLog: Post-Training Quantization for Vision Transformers with Adaptive Logarithm Quantizer," European Conference on Computer Vision (ECCV), 2024.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[2] Z. Yuan, C. Xue, Y. Chen, et al., "PTQ4ViT: Post-Training Quantization for Vision Transformers with Twin Uniform Quantization," European Conference on Computer Vision (ECCV), 2022.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[3] Z. Li, X. Liu, J. Wang, et al., "RepQ-ViT: Scale Reparameterization for Post-Training Quantization of Vision Transformers," IEEE/CVF International Conference on Computer Vision (ICCV), 2023.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[4] A. Dosovitskiy, L. Beyer, A. Kolesnikov, et al., "An Image Is Worth 16×16 Words: Transformers for Image Recognition at Scale," International Conference on Learning Representations (ICLR), 2021.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[5] Z. Dong, Z. Yao, A. Gholami, M. Mahoney, and K. Keutzer, "HAWQ: Hessian Aware Quantization of Neural Networks with Mixed-Precision," IEEE/CVF International Conference on Computer Vision (ICCV), 2019.</a:t>
            </a: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idx="12" type="sldNum"/>
          </p:nvPr>
        </p:nvSpPr>
        <p:spPr>
          <a:xfrm>
            <a:off x="8810013" y="638363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3128682" y="2545976"/>
            <a:ext cx="593463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0020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2024-10-24T17:20:31Z</dcterms:created>
  <dc:creator>Md. Mubtashim Abrar Nihal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